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cbb47b9654753" /><Relationship Type="http://schemas.openxmlformats.org/officeDocument/2006/relationships/extended-properties" Target="/docProps/app.xml" Id="R1186e7df6da74b10" /><Relationship Type="http://schemas.openxmlformats.org/officeDocument/2006/relationships/officeDocument" Target="/ppt/presentation.xml" Id="Ref092345fea246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957e6115bc84a19"/>
  </p:sldMasterIdLst>
  <p:notesMasterIdLst>
    <p:notesMasterId xmlns:r="http://schemas.openxmlformats.org/officeDocument/2006/relationships" r:id="R4f81e95a7715472a"/>
  </p:notesMasterIdLst>
  <p:sldIdLst>
    <p:sldId xmlns:r="http://schemas.openxmlformats.org/officeDocument/2006/relationships" id="256" r:id="Recc64d0deab3455e"/>
    <p:sldId xmlns:r="http://schemas.openxmlformats.org/officeDocument/2006/relationships" id="257" r:id="R24dd5b0985ab440b"/>
    <p:sldId xmlns:r="http://schemas.openxmlformats.org/officeDocument/2006/relationships" id="258" r:id="Rc09a2c0d783d4304"/>
    <p:sldId xmlns:r="http://schemas.openxmlformats.org/officeDocument/2006/relationships" id="259" r:id="R9e159c82863c430e"/>
    <p:sldId xmlns:r="http://schemas.openxmlformats.org/officeDocument/2006/relationships" id="260" r:id="R13f01e9363f24f7b"/>
    <p:sldId xmlns:r="http://schemas.openxmlformats.org/officeDocument/2006/relationships" id="261" r:id="R1182fbf54fad452d"/>
    <p:sldId xmlns:r="http://schemas.openxmlformats.org/officeDocument/2006/relationships" id="262" r:id="R1d407b847a2445ed"/>
    <p:sldId xmlns:r="http://schemas.openxmlformats.org/officeDocument/2006/relationships" id="263" r:id="R8a1206a27eb04489"/>
    <p:sldId xmlns:r="http://schemas.openxmlformats.org/officeDocument/2006/relationships" id="264" r:id="R0b36cc4e0edb4749"/>
    <p:sldId xmlns:r="http://schemas.openxmlformats.org/officeDocument/2006/relationships" id="265" r:id="Rcb9ff39548a647f0"/>
    <p:sldId xmlns:r="http://schemas.openxmlformats.org/officeDocument/2006/relationships" id="266" r:id="R3e88a895077b49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ee232c2e3a487c" /><Relationship Type="http://schemas.openxmlformats.org/officeDocument/2006/relationships/slideMaster" Target="/ppt/slideMasters/slideMaster1.xml" Id="R6957e6115bc84a19" /><Relationship Type="http://schemas.openxmlformats.org/officeDocument/2006/relationships/notesMaster" Target="/ppt/notesMasters/notesMaster1.xml" Id="R4f81e95a7715472a" /><Relationship Type="http://schemas.openxmlformats.org/officeDocument/2006/relationships/presProps" Target="/ppt/presProps.xml" Id="R7934879472e848c9" /><Relationship Type="http://schemas.openxmlformats.org/officeDocument/2006/relationships/tableStyles" Target="/ppt/tableStyles.xml" Id="R2983fbf2b0a24092" /><Relationship Type="http://schemas.openxmlformats.org/officeDocument/2006/relationships/slide" Target="/ppt/slides/slide1.xml" Id="Recc64d0deab3455e" /><Relationship Type="http://schemas.openxmlformats.org/officeDocument/2006/relationships/slide" Target="/ppt/slides/slide2.xml" Id="R24dd5b0985ab440b" /><Relationship Type="http://schemas.openxmlformats.org/officeDocument/2006/relationships/slide" Target="/ppt/slides/slide3.xml" Id="Rc09a2c0d783d4304" /><Relationship Type="http://schemas.openxmlformats.org/officeDocument/2006/relationships/slide" Target="/ppt/slides/slide4.xml" Id="R9e159c82863c430e" /><Relationship Type="http://schemas.openxmlformats.org/officeDocument/2006/relationships/slide" Target="/ppt/slides/slide5.xml" Id="R13f01e9363f24f7b" /><Relationship Type="http://schemas.openxmlformats.org/officeDocument/2006/relationships/slide" Target="/ppt/slides/slide6.xml" Id="R1182fbf54fad452d" /><Relationship Type="http://schemas.openxmlformats.org/officeDocument/2006/relationships/slide" Target="/ppt/slides/slide7.xml" Id="R1d407b847a2445ed" /><Relationship Type="http://schemas.openxmlformats.org/officeDocument/2006/relationships/slide" Target="/ppt/slides/slide8.xml" Id="R8a1206a27eb04489" /><Relationship Type="http://schemas.openxmlformats.org/officeDocument/2006/relationships/slide" Target="/ppt/slides/slide9.xml" Id="R0b36cc4e0edb4749" /><Relationship Type="http://schemas.openxmlformats.org/officeDocument/2006/relationships/slide" Target="/ppt/slides/slide10.xml" Id="Rcb9ff39548a647f0" /><Relationship Type="http://schemas.openxmlformats.org/officeDocument/2006/relationships/slide" Target="/ppt/slides/slide11.xml" Id="R3e88a895077b49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7cfa0af9ad143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1072fbca4294d88" /><Relationship Type="http://schemas.openxmlformats.org/officeDocument/2006/relationships/notesMaster" Target="/ppt/notesMasters/notesMaster1.xml" Id="R33fc00748bf746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38063343db4e80" /><Relationship Type="http://schemas.openxmlformats.org/officeDocument/2006/relationships/notesMaster" Target="/ppt/notesMasters/notesMaster1.xml" Id="R7d603afefa5d4c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18ef4bd16554ed5" /><Relationship Type="http://schemas.openxmlformats.org/officeDocument/2006/relationships/notesMaster" Target="/ppt/notesMasters/notesMaster1.xml" Id="Rf64a3d7a230746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347c972123b4427" /><Relationship Type="http://schemas.openxmlformats.org/officeDocument/2006/relationships/notesMaster" Target="/ppt/notesMasters/notesMaster1.xml" Id="R8aa75f4b855f4f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c226ff8a7c4288" /><Relationship Type="http://schemas.openxmlformats.org/officeDocument/2006/relationships/notesMaster" Target="/ppt/notesMasters/notesMaster1.xml" Id="R0fb0f69f432445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55f2e140f9467f" /><Relationship Type="http://schemas.openxmlformats.org/officeDocument/2006/relationships/notesMaster" Target="/ppt/notesMasters/notesMaster1.xml" Id="R347f78fe66c0425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07e7bcfba446fa" /><Relationship Type="http://schemas.openxmlformats.org/officeDocument/2006/relationships/notesMaster" Target="/ppt/notesMasters/notesMaster1.xml" Id="Rb6f517323ba842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ff4635b669e4706" /><Relationship Type="http://schemas.openxmlformats.org/officeDocument/2006/relationships/notesMaster" Target="/ppt/notesMasters/notesMaster1.xml" Id="R28e0759ec25e45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36c35f3eea46f8" /><Relationship Type="http://schemas.openxmlformats.org/officeDocument/2006/relationships/notesMaster" Target="/ppt/notesMasters/notesMaster1.xml" Id="Raa78defe58a2404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7e9e77601294629" /><Relationship Type="http://schemas.openxmlformats.org/officeDocument/2006/relationships/notesMaster" Target="/ppt/notesMasters/notesMaster1.xml" Id="R3388d22d7af6427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4d46637fbe49b5" /><Relationship Type="http://schemas.openxmlformats.org/officeDocument/2006/relationships/notesMaster" Target="/ppt/notesMasters/notesMaster1.xml" Id="Rfd7a215492d0449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建议用时：20 秒</a:t>
            </a:r>
          </a:p>
          <a:p xmlns:a="http://schemas.openxmlformats.org/drawingml/2006/main">
            <a:r>
              <a:t>今天回答两个问题：轮子怎样转，小车就怎样动？反过来，给定目标速度，应该让两轮转多快？最后用十几行 Python 把模型算出来。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>俯视图，两轮在同一轴线上。参考点 O 是轮轴中点。r 是共同轮半径，L 是左右接地点的间距。两轮角速度的正方向均定义为使车体向前滚动。车体前进速度 v 为正，俯视逆时针转向 Omega 为正。theta 从世界 x 轴逆时针量到车头。假设平地、纯滚动、无侧滑。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 秒</a:t>
            </a:r>
          </a:p>
          <a:p xmlns:a="http://schemas.openxmlformats.org/drawingml/2006/main">
            <a:r>
              <a:t>看向左转的瞬间，ICR 是瞬时转动中心。中心 O、左轮、右轮具有同一个转角 Delta theta，转弯半径分别为 R、R-L/2、R+L/2。弧长等于半径乘转角。两式除以时间，在极限下用 Omega 表示转角变化率，并用 v=R Omega 得到左右轮速度。图画的是 R&gt;L/2 的情形，代数关系在原地旋转时仍成立。直行时不必求无限大的 R，直接使用下面的线性关系。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>把上页两式相加，转向项抵消，得到两轮速度的平均值。相减则前进项抵消，得到速度差等于轮距乘转向角速度。最后用纯滚动关系 v_L=r omega_L 和 v_R=r omega_R 换成编码器或控制器更常用的车轮角速度。让学员做量纲检查：r乘角速度是m/s，再除L得到rad/s。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>控制器通常给定前进速度v和转向速度Omega。由和与差组成的方程组，前式减后式得到2v_L，前式加后式得到2v_R，再除以轮半径。注意这里计算的是车轮角速度，若电机带有减速器，还需要按实际传动比换算电机轴转速。不要把 rad/s 直接当 rpm。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>theta 是从世界x正轴到车头的逆时针夹角。小车的前进速度沿车头方向，因此在世界坐标的分量是v cos theta和v sin theta。右侧用当前时刻的导数乘时间步长得到显式欧拉法。k代表当前，k+1代表下一步。三个更新都使用同一个旧状态，特别不能先更新theta再拿新theta更新x和y。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 秒</a:t>
            </a:r>
          </a:p>
          <a:p xmlns:a="http://schemas.openxmlformats.org/drawingml/2006/main">
            <a:r>
              <a:t>先算轮缘线速度0.15与0.21 m/s，再求平均值0.18 m/s和速度差除轮距0.375 rad/s。正号说明逆时针转向。转弯半径为0.48 m，它是轮轴中点的轨迹半径。如果初始位姿为零，时间步长为0.1s，则一次欧拉更新得到x=0.018m、y=0、theta=0.0375rad。y为零只是这一个欧拉步的近似，不表示转弯过程中y始终为零。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 秒</a:t>
            </a:r>
          </a:p>
          <a:p xmlns:a="http://schemas.openxmlformats.org/drawingml/2006/main">
            <a:r>
              <a:t>左边代码对应正运动学，右边对应逆运动学。重点核对三个地方：返回顺序是左、右，角速度单位为rad/s，右轮减左轮保证左转为正。对例题先forward再inverse，应该恢复5和7。这能快速发现符号和轮距因子的错误。配套完整脚本还检查r和L必须为正，幻灯片只保留核心计算行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建议用时：65 秒</a:t>
            </a:r>
          </a:p>
          <a:p xmlns:a="http://schemas.openxmlformats.org/drawingml/2006/main">
            <a:r>
              <a:t>step函数对应上一页的欧拉公式，先算三个新变量，最后一起返回。这里v和om取例题结果，dt为0.01s，更新200次就是2秒。右侧列出实际运行结果。圆弧解析解只针对恒定速度且从原点朝x方向出发，拿它做独立对照可以看到积分误差。可以把步长减半、步数翻倍，保持总时间不变再观察误差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 秒</a:t>
            </a:r>
          </a:p>
          <a:p xmlns:a="http://schemas.openxmlformats.org/drawingml/2006/main">
            <a:r>
              <a:t>给学生约20秒独立计算。答案为左轮线速度0.11、右轮0.19 m/s，对应角速度3.6667、6.3333 rad/s。追问把Omega换成负号后会怎样，左右轮结果应交换。总结：几何推导解释公式，方向与单位检查解释结果，代码让计算可重复。真实小车的轮径误差、打滑及速度控制误差还会带来模型与实测之间的偏差。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 秒</a:t>
            </a:r>
          </a:p>
          <a:p xmlns:a="http://schemas.openxmlformats.org/drawingml/2006/main">
            <a:r>
              <a:t>此页供课后查阅，不计入10分钟主讲。模型不是闭环速度控制器。编码器、轮径标定、打滑和电机速度控制会影响实车表现。恒定v和Omega下，从(0,0,0)出发的圆弧解析解可用于独立核对欧拉法，Omega=0时须使用直行极限。</a:t>
            </a:r>
          </a:p>
          <a:p xmlns:a="http://schemas.openxmlformats.org/drawingml/2006/main">
            <a:r>
              <a:t>参考：https://modernrobotics.northwestern.edu/nu-gm-book-resource/13-3-1-modeling-of-nonholonomic-wheeled-mobile-robots/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0f31195c0d48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ce2f845053416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3b2eac57b24f7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e92befd710440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634b0ec73441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893b6d81bb44a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A02C14F-4187-49D2-999E-2FD77CE25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E2487D50-2955-4733-B328-B63097DE25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E320F2E-D1E4-4863-B525-BEAEA46952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9F0DA1-D8D3-475B-AA8D-8F2086DE28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7B92C70-7F5F-4ACE-B6CE-34A2747643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ED13C0E-51E2-418B-BF23-A3DCC7C533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033136D-5B88-47C4-9031-38AC68F5D57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3DF3467-FB28-4EEB-95E3-4BE59322763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A58D5F-B638-477E-B67B-EE31EAA1D8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26B5B46-8BB0-4377-BAAE-9DFD56AEB9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ed50e80e0814506" /><Relationship Type="http://schemas.openxmlformats.org/officeDocument/2006/relationships/slideLayout" Target="/ppt/slideLayouts/slideLayout1.xml" Id="R7b61ddee7514477a" /><Relationship Type="http://schemas.openxmlformats.org/officeDocument/2006/relationships/slideLayout" Target="/ppt/slideLayouts/slideLayout2.xml" Id="Rb0ede68dc1e04ce1" /><Relationship Type="http://schemas.openxmlformats.org/officeDocument/2006/relationships/slideLayout" Target="/ppt/slideLayouts/slideLayout3.xml" Id="R58dec2b0665e4aa9" /><Relationship Type="http://schemas.openxmlformats.org/officeDocument/2006/relationships/slideLayout" Target="/ppt/slideLayouts/slideLayout4.xml" Id="Rf2b3a3a15d1844bd" /><Relationship Type="http://schemas.openxmlformats.org/officeDocument/2006/relationships/slideLayout" Target="/ppt/slideLayouts/slideLayout5.xml" Id="R5e7fc3c92f374ca0" /><Relationship Type="http://schemas.openxmlformats.org/officeDocument/2006/relationships/slideLayout" Target="/ppt/slideLayouts/slideLayout6.xml" Id="Rc12675aa2dd84c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b61ddee7514477a"/>
    <p:sldLayoutId xmlns:r="http://schemas.openxmlformats.org/officeDocument/2006/relationships" id="2147483650" r:id="Rb0ede68dc1e04ce1"/>
    <p:sldLayoutId xmlns:r="http://schemas.openxmlformats.org/officeDocument/2006/relationships" id="2147483651" r:id="R58dec2b0665e4aa9"/>
    <p:sldLayoutId xmlns:r="http://schemas.openxmlformats.org/officeDocument/2006/relationships" id="2147483652" r:id="Rf2b3a3a15d1844bd"/>
    <p:sldLayoutId xmlns:r="http://schemas.openxmlformats.org/officeDocument/2006/relationships" id="2147483653" r:id="R5e7fc3c92f374ca0"/>
    <p:sldLayoutId xmlns:r="http://schemas.openxmlformats.org/officeDocument/2006/relationships" id="2147483654" r:id="Rc12675aa2dd84c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e8433c244c54d7a" /><Relationship Type="http://schemas.openxmlformats.org/officeDocument/2006/relationships/image" Target="/ppt/media/image.png" Id="Rea620e224bdd444a" /><Relationship Type="http://schemas.openxmlformats.org/officeDocument/2006/relationships/notesSlide" Target="/ppt/notesSlides/notesSlide1.xml" Id="R3f24cd24769e4b9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5a894b5fb14b44" /><Relationship Type="http://schemas.openxmlformats.org/officeDocument/2006/relationships/image" Target="/ppt/media/image2.png" Id="Rd30c5a399477466d" /><Relationship Type="http://schemas.openxmlformats.org/officeDocument/2006/relationships/image" Target="/ppt/media/image3.png" Id="Rce11494c5c8e4f0c" /><Relationship Type="http://schemas.openxmlformats.org/officeDocument/2006/relationships/image" Target="/ppt/media/image4.png" Id="R14bfa579ab4e4140" /><Relationship Type="http://schemas.openxmlformats.org/officeDocument/2006/relationships/image" Target="/ppt/media/image5.png" Id="R7122e0a70cac4ea8" /><Relationship Type="http://schemas.openxmlformats.org/officeDocument/2006/relationships/image" Target="/ppt/media/image6.png" Id="R5d8b63737a87479a" /><Relationship Type="http://schemas.openxmlformats.org/officeDocument/2006/relationships/image" Target="/ppt/media/image7.png" Id="R61cc6462169548d3" /><Relationship Type="http://schemas.openxmlformats.org/officeDocument/2006/relationships/image" Target="/ppt/media/image8.png" Id="R367e51373d6f4601" /><Relationship Type="http://schemas.openxmlformats.org/officeDocument/2006/relationships/notesSlide" Target="/ppt/notesSlides/notesSlide2.xml" Id="R6a9786383cd24f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7a06d8a8cc456f" /><Relationship Type="http://schemas.openxmlformats.org/officeDocument/2006/relationships/image" Target="/ppt/media/image9.png" Id="R2f6ca6a571044577" /><Relationship Type="http://schemas.openxmlformats.org/officeDocument/2006/relationships/image" Target="/ppt/media/image10.png" Id="R625b9944a12149b3" /><Relationship Type="http://schemas.openxmlformats.org/officeDocument/2006/relationships/image" Target="/ppt/media/image11.png" Id="Re1a06843af5a4a53" /><Relationship Type="http://schemas.openxmlformats.org/officeDocument/2006/relationships/image" Target="/ppt/media/image12.png" Id="Rf5e43d231e6348cb" /><Relationship Type="http://schemas.openxmlformats.org/officeDocument/2006/relationships/image" Target="/ppt/media/image13.png" Id="Rcfff57f103304c3d" /><Relationship Type="http://schemas.openxmlformats.org/officeDocument/2006/relationships/image" Target="/ppt/media/image14.png" Id="Ra97da625e0534057" /><Relationship Type="http://schemas.openxmlformats.org/officeDocument/2006/relationships/notesSlide" Target="/ppt/notesSlides/notesSlide3.xml" Id="R66b37572dcfe426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302cea14342b4" /><Relationship Type="http://schemas.openxmlformats.org/officeDocument/2006/relationships/image" Target="/ppt/media/image15.png" Id="R337ddb2a4ab14af9" /><Relationship Type="http://schemas.openxmlformats.org/officeDocument/2006/relationships/image" Target="/ppt/media/image16.png" Id="R8a7822abdf5041b5" /><Relationship Type="http://schemas.openxmlformats.org/officeDocument/2006/relationships/image" Target="/ppt/media/image17.png" Id="Rf6938b4379184ce7" /><Relationship Type="http://schemas.openxmlformats.org/officeDocument/2006/relationships/image" Target="/ppt/media/image18.png" Id="R6eba7a41b0aa440b" /><Relationship Type="http://schemas.openxmlformats.org/officeDocument/2006/relationships/notesSlide" Target="/ppt/notesSlides/notesSlide4.xml" Id="R0b96a141db1042e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67769be8b149a8" /><Relationship Type="http://schemas.openxmlformats.org/officeDocument/2006/relationships/image" Target="/ppt/media/image19.png" Id="R980948092be24d73" /><Relationship Type="http://schemas.openxmlformats.org/officeDocument/2006/relationships/image" Target="/ppt/media/image20.png" Id="R212d10e81edb4e6e" /><Relationship Type="http://schemas.openxmlformats.org/officeDocument/2006/relationships/image" Target="/ppt/media/image21.png" Id="R5eea88d45fc24e87" /><Relationship Type="http://schemas.openxmlformats.org/officeDocument/2006/relationships/image" Target="/ppt/media/image22.png" Id="Rdd536c27a1264297" /><Relationship Type="http://schemas.openxmlformats.org/officeDocument/2006/relationships/notesSlide" Target="/ppt/notesSlides/notesSlide5.xml" Id="R46942f342039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b44efdacad4b8c" /><Relationship Type="http://schemas.openxmlformats.org/officeDocument/2006/relationships/image" Target="/ppt/media/image23.png" Id="R8cba20e2ae184464" /><Relationship Type="http://schemas.openxmlformats.org/officeDocument/2006/relationships/image" Target="/ppt/media/image24.png" Id="R78a40627af2b4496" /><Relationship Type="http://schemas.openxmlformats.org/officeDocument/2006/relationships/image" Target="/ppt/media/image25.png" Id="R683b94e92bca4501" /><Relationship Type="http://schemas.openxmlformats.org/officeDocument/2006/relationships/image" Target="/ppt/media/image26.png" Id="R702a6d055c2d48bd" /><Relationship Type="http://schemas.openxmlformats.org/officeDocument/2006/relationships/image" Target="/ppt/media/image27.png" Id="R38ac2b0918154cb8" /><Relationship Type="http://schemas.openxmlformats.org/officeDocument/2006/relationships/image" Target="/ppt/media/image28.png" Id="Rcbb92f69839a4585" /><Relationship Type="http://schemas.openxmlformats.org/officeDocument/2006/relationships/notesSlide" Target="/ppt/notesSlides/notesSlide6.xml" Id="R326f64941f4c4a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f03696211142e3" /><Relationship Type="http://schemas.openxmlformats.org/officeDocument/2006/relationships/image" Target="/ppt/media/image29.png" Id="R54c37f28bab448f6" /><Relationship Type="http://schemas.openxmlformats.org/officeDocument/2006/relationships/image" Target="/ppt/media/image30.png" Id="Rdb9c9e1f53d34470" /><Relationship Type="http://schemas.openxmlformats.org/officeDocument/2006/relationships/image" Target="/ppt/media/image31.png" Id="Rd7408a64063d4b81" /><Relationship Type="http://schemas.openxmlformats.org/officeDocument/2006/relationships/image" Target="/ppt/media/image32.png" Id="R03cdd078f4784194" /><Relationship Type="http://schemas.openxmlformats.org/officeDocument/2006/relationships/image" Target="/ppt/media/image33.png" Id="Re0fae13681ff4e14" /><Relationship Type="http://schemas.openxmlformats.org/officeDocument/2006/relationships/image" Target="/ppt/media/image34.png" Id="Rb8adb4e30687456b" /><Relationship Type="http://schemas.openxmlformats.org/officeDocument/2006/relationships/image" Target="/ppt/media/image35.png" Id="R391336e3c2ce45b7" /><Relationship Type="http://schemas.openxmlformats.org/officeDocument/2006/relationships/notesSlide" Target="/ppt/notesSlides/notesSlide7.xml" Id="R365bd3f31a24496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657a2b47fa49f3" /><Relationship Type="http://schemas.openxmlformats.org/officeDocument/2006/relationships/image" Target="/ppt/media/image36.png" Id="Rad0e9cd010314496" /><Relationship Type="http://schemas.openxmlformats.org/officeDocument/2006/relationships/notesSlide" Target="/ppt/notesSlides/notesSlide8.xml" Id="Re6f38ef3287d40a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f076eb449244aa" /><Relationship Type="http://schemas.openxmlformats.org/officeDocument/2006/relationships/image" Target="/ppt/media/image37.png" Id="R31a6afc998b14b54" /><Relationship Type="http://schemas.openxmlformats.org/officeDocument/2006/relationships/image" Target="/ppt/media/image38.png" Id="R848b0cfcc19d482c" /><Relationship Type="http://schemas.openxmlformats.org/officeDocument/2006/relationships/image" Target="/ppt/media/image39.png" Id="Rd4b299db16734d88" /><Relationship Type="http://schemas.openxmlformats.org/officeDocument/2006/relationships/notesSlide" Target="/ppt/notesSlides/notesSlide9.xml" Id="Rb289a04c7cd248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eb325458e42d9" /><Relationship Type="http://schemas.openxmlformats.org/officeDocument/2006/relationships/image" Target="/ppt/media/image40.png" Id="Re7bf0935095a4f74" /><Relationship Type="http://schemas.openxmlformats.org/officeDocument/2006/relationships/image" Target="/ppt/media/image41.png" Id="Rfa66e0fd8210411f" /><Relationship Type="http://schemas.openxmlformats.org/officeDocument/2006/relationships/notesSlide" Target="/ppt/notesSlides/notesSlide10.xml" Id="Rc87cddbcaf9d47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ccc378a45545e9" /><Relationship Type="http://schemas.openxmlformats.org/officeDocument/2006/relationships/image" Target="/ppt/media/image42.png" Id="R7bb48efb42d64583" /><Relationship Type="http://schemas.openxmlformats.org/officeDocument/2006/relationships/notesSlide" Target="/ppt/notesSlides/notesSlide11.xml" Id="Rc2e9361cfa0d4cc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9E9188-C49E-4875-9702-10B187E4E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31E31A-31C3-4C79-B1C5-3AB41622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6806E-908B-4FAD-BE5F-840D5625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3E32D-C507-46A8-8618-FC897A695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FB467-3719-4320-B16D-3DA6CFED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71675"/>
            <a:ext cx="723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3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3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375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几何推导与 Python 实现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2D2DA0-8DEB-4F10-BD36-F17865AA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057525"/>
            <a:ext cx="695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面向机器人协会新成员 · 授课 Demo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882A86-DB94-49B2-9DCD-FE350C24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00475"/>
            <a:ext cx="619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pPr>
            <a:r>
              <a:rPr sz="1800" b="1">
                <a:solidFill>
                  <a:srgbClr val="008F95"/>
                </a:solidFill>
                <a:latin typeface="DengXian"/>
                <a:ea typeface="DengXian"/>
                <a:cs typeface="DengXian"/>
              </a:rPr>
              <a:t>10 分钟主讲 + 参考页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A6772F-63E5-4A22-B95E-52B59252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00625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pPr>
            <a:r>
              <a:rPr sz="2175" b="0">
                <a:solidFill>
                  <a:srgbClr val="23364A"/>
                </a:solidFill>
                <a:latin typeface="DengXian"/>
                <a:ea typeface="DengXian"/>
                <a:cs typeface="DengXian"/>
              </a:rPr>
              <a:t>学习目标：能推导、能计算、能用代码核对。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CF71D-2618-4DF1-99D9-0FAE9751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38375"/>
            <a:ext cx="1809750" cy="22669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19050">
            <a:solidFill>
              <a:srgbClr val="152B4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9A445D-5426-46DC-906C-C2182D4C2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009900"/>
            <a:ext cx="419100" cy="8667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988B0-73EC-4AE6-99F9-F33897E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3009900"/>
            <a:ext cx="419100" cy="86677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49B3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E8AC90-AD88-4ABB-AE84-02B43DD25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3432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19050">
            <a:solidFill>
              <a:srgbClr val="152B43"/>
            </a:solidFill>
          </a:ln>
        </p:spPr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3A6064-A495-492A-A67E-84E62F0BB710}"/>
              </a:ext>
            </a:extLst>
          </p:cNvPr>
          <p:cNvCxnSpPr/>
          <p:nvPr/>
        </p:nvCxnSpPr>
        <p:spPr>
          <a:xfrm xmlns:a="http://schemas.openxmlformats.org/drawingml/2006/main">
            <a:off x="9763125" y="1771650"/>
            <a:ext cx="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F95"/>
            </a:solidFill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8C8E8A-BAB1-4042-BCB5-E5095F20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1685925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4735D0-20C7-4161-95A2-3617CFD5C3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20e224bdd444a"/>
          <a:stretch xmlns:a="http://schemas.openxmlformats.org/drawingml/2006/main"/>
        </p:blipFill>
        <p:spPr>
          <a:xfrm xmlns:a="http://schemas.openxmlformats.org/drawingml/2006/main">
            <a:off x="10001250" y="1695450"/>
            <a:ext cx="184785" cy="1729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316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FC618-F510-457B-86D6-E5D14F067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先统一几何参数和正方向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1DE68-CF6F-4D50-BEA5-FB793963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D7704-DA6A-431F-A786-F2C9BE4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5A00E-A189-4FB4-AD3F-430179E8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9897BC-8B5A-42CC-A161-95A1D374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247900"/>
            <a:ext cx="2419350" cy="27622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E9EFF5"/>
          </a:solidFill>
          <a:ln xmlns:a="http://schemas.openxmlformats.org/drawingml/2006/main" w="19050">
            <a:solidFill>
              <a:srgbClr val="152B4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2B05D-383A-4370-BD0E-CEA273EAD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152775"/>
            <a:ext cx="590550" cy="10001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1D3910-884C-4807-8D24-B359C032B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52775"/>
            <a:ext cx="590550" cy="100012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49B38"/>
          </a:solidFill>
          <a:ln xmlns:a="http://schemas.openxmlformats.org/drawingml/2006/main" w="0">
            <a:noFill/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3546B2-E64C-487E-92CE-E488FDF5AEC6}"/>
              </a:ext>
            </a:extLst>
          </p:cNvPr>
          <p:cNvCxnSpPr/>
          <p:nvPr/>
        </p:nvCxnSpPr>
        <p:spPr>
          <a:xfrm xmlns:a="http://schemas.openxmlformats.org/drawingml/2006/main">
            <a:off x="1866900" y="3648075"/>
            <a:ext cx="2562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C18F7-77AE-4859-9403-D9BE1998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571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19050">
            <a:solidFill>
              <a:srgbClr val="152B43"/>
            </a:solidFill>
          </a:ln>
        </p:spPr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A9FF85-FFC6-4075-943A-5A74D41A401D}"/>
              </a:ext>
            </a:extLst>
          </p:cNvPr>
          <p:cNvCxnSpPr/>
          <p:nvPr/>
        </p:nvCxnSpPr>
        <p:spPr>
          <a:xfrm xmlns:a="http://schemas.openxmlformats.org/drawingml/2006/main">
            <a:off x="3152775" y="2143125"/>
            <a:ext cx="0" cy="9906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F95"/>
            </a:solidFill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CC0F36-5CD2-41E0-A5A6-1016A997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5740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F917D5-8F6E-440E-9761-CE9F34EC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705225"/>
            <a:ext cx="428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23364A"/>
                </a:solidFill>
                <a:latin typeface="DengXian"/>
                <a:ea typeface="DengXian"/>
                <a:cs typeface="DengXian"/>
              </a:rPr>
              <a:t>O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BAE806-AEEB-4F56-9C3F-839CD1698303}"/>
              </a:ext>
            </a:extLst>
          </p:cNvPr>
          <p:cNvCxnSpPr/>
          <p:nvPr/>
        </p:nvCxnSpPr>
        <p:spPr>
          <a:xfrm xmlns:a="http://schemas.openxmlformats.org/drawingml/2006/main">
            <a:off x="1866900" y="4524375"/>
            <a:ext cx="25622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0E73E2-634A-4CC6-88E2-AAF9243CD043}"/>
              </a:ext>
            </a:extLst>
          </p:cNvPr>
          <p:cNvCxnSpPr/>
          <p:nvPr/>
        </p:nvCxnSpPr>
        <p:spPr>
          <a:xfrm xmlns:a="http://schemas.openxmlformats.org/drawingml/2006/main">
            <a:off x="1866900" y="43910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FA5823-6E27-40E3-B6A5-DEA22DA10E0C}"/>
              </a:ext>
            </a:extLst>
          </p:cNvPr>
          <p:cNvCxnSpPr/>
          <p:nvPr/>
        </p:nvCxnSpPr>
        <p:spPr>
          <a:xfrm xmlns:a="http://schemas.openxmlformats.org/drawingml/2006/main">
            <a:off x="4429125" y="4391025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ACD10B-1CE9-45DA-A3D0-A122F1480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41020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车头向上，左轮与右轮按车体方向定义。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09449F-5CD8-4170-82A5-5E01EE29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04975"/>
            <a:ext cx="4381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参数与单位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8FE9AB-B50C-46C4-99F7-2BBC2156E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91100"/>
            <a:ext cx="4762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Ω &gt; 0：俯视时逆时针转向</a:t>
            </a:r>
          </a:p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模型条件：平地、纯滚动、无侧滑</a:t>
            </a: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C48D0B-C1AA-4D27-BD76-17DB546855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0c5a399477466d"/>
          <a:stretch xmlns:a="http://schemas.openxmlformats.org/drawingml/2006/main"/>
        </p:blipFill>
        <p:spPr>
          <a:xfrm xmlns:a="http://schemas.openxmlformats.org/drawingml/2006/main">
            <a:off x="3419475" y="1943100"/>
            <a:ext cx="175546" cy="164325"/>
          </a:xfrm>
          <a:prstGeom xmlns:a="http://schemas.openxmlformats.org/drawingml/2006/main" prst="rect">
            <a:avLst/>
          </a:prstGeom>
        </p:spPr>
      </p:pic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CE31647-95C5-4A82-9398-050D2581D7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1494c5c8e4f0c"/>
          <a:stretch xmlns:a="http://schemas.openxmlformats.org/drawingml/2006/main"/>
        </p:blipFill>
        <p:spPr>
          <a:xfrm xmlns:a="http://schemas.openxmlformats.org/drawingml/2006/main">
            <a:off x="3048000" y="4705350"/>
            <a:ext cx="227028" cy="227695"/>
          </a:xfrm>
          <a:prstGeom xmlns:a="http://schemas.openxmlformats.org/drawingml/2006/main" prst="rect">
            <a:avLst/>
          </a:prstGeom>
        </p:spPr>
      </p:pic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54D1BF-B3E8-4785-AF71-2EA2375868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fa579ab4e4140"/>
          <a:stretch xmlns:a="http://schemas.openxmlformats.org/drawingml/2006/main"/>
        </p:blipFill>
        <p:spPr>
          <a:xfrm xmlns:a="http://schemas.openxmlformats.org/drawingml/2006/main">
            <a:off x="1085850" y="2657475"/>
            <a:ext cx="361645" cy="180746"/>
          </a:xfrm>
          <a:prstGeom xmlns:a="http://schemas.openxmlformats.org/drawingml/2006/main" prst="rect">
            <a:avLst/>
          </a:prstGeom>
        </p:spPr>
      </p:pic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38B18A-D169-4CB5-BC5E-E5CFA097E7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2e0a70cac4ea8"/>
          <a:stretch xmlns:a="http://schemas.openxmlformats.org/drawingml/2006/main"/>
        </p:blipFill>
        <p:spPr>
          <a:xfrm xmlns:a="http://schemas.openxmlformats.org/drawingml/2006/main">
            <a:off x="4391025" y="2657475"/>
            <a:ext cx="378470" cy="185257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56BF8C-152A-45FF-894F-837841150BB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8b63737a87479a"/>
          <a:stretch xmlns:a="http://schemas.openxmlformats.org/drawingml/2006/main"/>
        </p:blipFill>
        <p:spPr>
          <a:xfrm xmlns:a="http://schemas.openxmlformats.org/drawingml/2006/main">
            <a:off x="6696075" y="2333625"/>
            <a:ext cx="1405409" cy="333375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C2E224-6592-4270-AE7D-06B9D821D3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cc6462169548d3"/>
          <a:stretch xmlns:a="http://schemas.openxmlformats.org/drawingml/2006/main"/>
        </p:blipFill>
        <p:spPr>
          <a:xfrm xmlns:a="http://schemas.openxmlformats.org/drawingml/2006/main">
            <a:off x="6696075" y="3133725"/>
            <a:ext cx="2652149" cy="314325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231ECF-4B28-4010-9B32-E2E9DEB0E4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7e51373d6f4601"/>
          <a:stretch xmlns:a="http://schemas.openxmlformats.org/drawingml/2006/main"/>
        </p:blipFill>
        <p:spPr>
          <a:xfrm xmlns:a="http://schemas.openxmlformats.org/drawingml/2006/main">
            <a:off x="6696075" y="3962400"/>
            <a:ext cx="2669347" cy="304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927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B9D52D3-3DA3-46A5-B3BA-B11F2E2A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推导①：两轮走过不同长度的圆弧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7E0CEA-4719-44A5-8D55-B3131FA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1F5E86-FF49-4260-B305-7BA6793E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26F56A-C4ED-47E0-AF70-6A088EBDE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6B1447-6D67-4A84-B85B-DD5F65AD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62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同一转角，不同半径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D367F8-6AC7-49A0-836C-030711BCB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286250"/>
            <a:ext cx="6619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除以 Δt，令 Δt → 0，并代入 v = RΩ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CFEE0A-3B0A-417A-98A8-D4023B3A83B9}"/>
              </a:ext>
            </a:extLst>
          </p:cNvPr>
          <p:cNvCxnSpPr/>
          <p:nvPr/>
        </p:nvCxnSpPr>
        <p:spPr>
          <a:xfrm xmlns:a="http://schemas.openxmlformats.org/drawingml/2006/main">
            <a:off x="7829550" y="3476625"/>
            <a:ext cx="3219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3A7E6F-0C2F-4BE9-8F4C-803986CA0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19050">
            <a:solidFill>
              <a:srgbClr val="152B4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7DEDB-E1A2-44E8-BBA0-63821552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33725"/>
            <a:ext cx="23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0E29B5-8724-4451-B9EA-F1ADF4C9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33725"/>
            <a:ext cx="2381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9B38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95A31-42CE-44FE-9210-F20CFF39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419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B43"/>
          </a:solidFill>
          <a:ln xmlns:a="http://schemas.openxmlformats.org/drawingml/2006/main" w="19050">
            <a:solidFill>
              <a:srgbClr val="152B43"/>
            </a:solidFill>
          </a:ln>
        </p:spPr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7EB688-9577-4485-89EE-440DC67F0B81}"/>
              </a:ext>
            </a:extLst>
          </p:cNvPr>
          <p:cNvCxnSpPr/>
          <p:nvPr/>
        </p:nvCxnSpPr>
        <p:spPr>
          <a:xfrm xmlns:a="http://schemas.openxmlformats.org/drawingml/2006/main">
            <a:off x="9020175" y="2505075"/>
            <a:ext cx="0" cy="476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08F95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621248-7A90-4CF2-8738-DDAAEE5C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193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DDBC97-099E-47F0-92F4-62D0A668E841}"/>
              </a:ext>
            </a:extLst>
          </p:cNvPr>
          <p:cNvCxnSpPr/>
          <p:nvPr/>
        </p:nvCxnSpPr>
        <p:spPr>
          <a:xfrm xmlns:a="http://schemas.openxmlformats.org/drawingml/2006/main">
            <a:off x="10734675" y="2124075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B36E15"/>
            </a:solidFill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0805C-CCED-4DE4-A62E-E38B434F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038350"/>
            <a:ext cx="133350" cy="14287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B36E1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88E07D-7439-4652-9E9A-243CB346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14750"/>
            <a:ext cx="762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23364A"/>
                </a:solidFill>
                <a:latin typeface="DengXian"/>
                <a:ea typeface="DengXian"/>
                <a:cs typeface="DengXian"/>
              </a:rPr>
              <a:t>ICR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1570F5-C28A-4505-9D46-353A166A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3714750"/>
            <a:ext cx="333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650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pPr>
            <a:r>
              <a:rPr sz="1650" b="0">
                <a:solidFill>
                  <a:srgbClr val="23364A"/>
                </a:solidFill>
                <a:latin typeface="DengXian"/>
                <a:ea typeface="DengXian"/>
                <a:cs typeface="DengXian"/>
              </a:rPr>
              <a:t>O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0549BD-C871-4DCA-855D-E25BD704BD60}"/>
              </a:ext>
            </a:extLst>
          </p:cNvPr>
          <p:cNvCxnSpPr/>
          <p:nvPr/>
        </p:nvCxnSpPr>
        <p:spPr>
          <a:xfrm xmlns:a="http://schemas.openxmlformats.org/drawingml/2006/main">
            <a:off x="7829550" y="4267200"/>
            <a:ext cx="2019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B8929-7994-43F2-82D9-8DC94B2E0328}"/>
              </a:ext>
            </a:extLst>
          </p:cNvPr>
          <p:cNvCxnSpPr/>
          <p:nvPr/>
        </p:nvCxnSpPr>
        <p:spPr>
          <a:xfrm xmlns:a="http://schemas.openxmlformats.org/drawingml/2006/main">
            <a:off x="7829550" y="41814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7C88C3-1537-40CE-BD7B-9D7791AFFA26}"/>
              </a:ext>
            </a:extLst>
          </p:cNvPr>
          <p:cNvCxnSpPr/>
          <p:nvPr/>
        </p:nvCxnSpPr>
        <p:spPr>
          <a:xfrm xmlns:a="http://schemas.openxmlformats.org/drawingml/2006/main">
            <a:off x="9848850" y="4181475"/>
            <a:ext cx="0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E7184"/>
            </a:solidFill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294003-3969-4CEA-B166-69A860DA4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1762125"/>
            <a:ext cx="3857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俯视：左转时右轮走得更远</a:t>
            </a:r>
          </a:p>
        </p:txBody>
      </p:sp>
      <p:pic>
        <p:nvPic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42A105-2447-4A35-9989-CB568E2B24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6ca6a571044577"/>
          <a:stretch xmlns:a="http://schemas.openxmlformats.org/drawingml/2006/main"/>
        </p:blipFill>
        <p:spPr>
          <a:xfrm xmlns:a="http://schemas.openxmlformats.org/drawingml/2006/main">
            <a:off x="695325" y="2238375"/>
            <a:ext cx="2774878" cy="733425"/>
          </a:xfrm>
          <a:prstGeom xmlns:a="http://schemas.openxmlformats.org/drawingml/2006/main" prst="rect">
            <a:avLst/>
          </a:prstGeom>
        </p:spPr>
      </p:pic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F8D79D-08DC-4AB6-BFAF-87BF24DCC0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5b9944a12149b3"/>
          <a:stretch xmlns:a="http://schemas.openxmlformats.org/drawingml/2006/main"/>
        </p:blipFill>
        <p:spPr>
          <a:xfrm xmlns:a="http://schemas.openxmlformats.org/drawingml/2006/main">
            <a:off x="695325" y="3209925"/>
            <a:ext cx="2791754" cy="733425"/>
          </a:xfrm>
          <a:prstGeom xmlns:a="http://schemas.openxmlformats.org/drawingml/2006/main" prst="rect">
            <a:avLst/>
          </a:prstGeom>
        </p:spPr>
      </p:pic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609C30-1D73-4A6B-BFBC-B415926DBB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06843af5a4a53"/>
          <a:stretch xmlns:a="http://schemas.openxmlformats.org/drawingml/2006/main"/>
        </p:blipFill>
        <p:spPr>
          <a:xfrm xmlns:a="http://schemas.openxmlformats.org/drawingml/2006/main">
            <a:off x="695325" y="4981575"/>
            <a:ext cx="5085672" cy="723900"/>
          </a:xfrm>
          <a:prstGeom xmlns:a="http://schemas.openxmlformats.org/drawingml/2006/main" prst="rect">
            <a:avLst/>
          </a:prstGeom>
        </p:spPr>
      </p:pic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8B65F9-4A96-4B37-BD1E-9D458C4AE2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e43d231e6348cb"/>
          <a:stretch xmlns:a="http://schemas.openxmlformats.org/drawingml/2006/main"/>
        </p:blipFill>
        <p:spPr>
          <a:xfrm xmlns:a="http://schemas.openxmlformats.org/drawingml/2006/main">
            <a:off x="8753475" y="4381500"/>
            <a:ext cx="195196" cy="181051"/>
          </a:xfrm>
          <a:prstGeom xmlns:a="http://schemas.openxmlformats.org/drawingml/2006/main" prst="rect">
            <a:avLst/>
          </a:prstGeom>
        </p:spPr>
      </p:pic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B1F2D3-A6C6-4CA0-8F7F-83D1DEF54D8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ff57f103304c3d"/>
          <a:stretch xmlns:a="http://schemas.openxmlformats.org/drawingml/2006/main"/>
        </p:blipFill>
        <p:spPr>
          <a:xfrm xmlns:a="http://schemas.openxmlformats.org/drawingml/2006/main">
            <a:off x="9248775" y="3657600"/>
            <a:ext cx="250622" cy="457200"/>
          </a:xfrm>
          <a:prstGeom xmlns:a="http://schemas.openxmlformats.org/drawingml/2006/main" prst="rect">
            <a:avLst/>
          </a:prstGeom>
        </p:spPr>
      </p:pic>
      <p:pic>
        <p:nvPic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C743C3-1C47-40B8-9E8D-2FBA548AC57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7da625e0534057"/>
          <a:stretch xmlns:a="http://schemas.openxmlformats.org/drawingml/2006/main"/>
        </p:blipFill>
        <p:spPr>
          <a:xfrm xmlns:a="http://schemas.openxmlformats.org/drawingml/2006/main">
            <a:off x="10106025" y="3657600"/>
            <a:ext cx="250622" cy="457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918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47C648-5B49-405B-AF70-7EAE45DCE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推导②：相加求前进速度，相减求转向速度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D27096-998A-40ED-87AD-79317B1E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30890A-43F8-4BF6-B082-A15A7FB7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81396E-2801-4F58-8704-910429C9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2EFD3A-352D-4045-88EB-4C267827C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97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相加：转向项抵消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46F59-6B8D-4547-878C-D5D86AE3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48025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相减：前进项抵消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CC576-AEDA-4A4D-8167-95DAA5ECF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纯滚动：轮缘线速度 = 轮半径 × 车轮角速度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564F6-C674-4C34-B61D-BB49ABF683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ddb2a4ab14af9"/>
          <a:stretch xmlns:a="http://schemas.openxmlformats.org/drawingml/2006/main"/>
        </p:blipFill>
        <p:spPr>
          <a:xfrm xmlns:a="http://schemas.openxmlformats.org/drawingml/2006/main">
            <a:off x="695325" y="2219325"/>
            <a:ext cx="5929849" cy="7429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25B4A0-69C1-4981-9277-5F32BD49A0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7822abdf5041b5"/>
          <a:stretch xmlns:a="http://schemas.openxmlformats.org/drawingml/2006/main"/>
        </p:blipFill>
        <p:spPr>
          <a:xfrm xmlns:a="http://schemas.openxmlformats.org/drawingml/2006/main">
            <a:off x="695325" y="3876675"/>
            <a:ext cx="6180045" cy="7429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BD975E-9067-488C-9BDC-D8DC807FDB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38b4379184ce7"/>
          <a:stretch xmlns:a="http://schemas.openxmlformats.org/drawingml/2006/main"/>
        </p:blipFill>
        <p:spPr>
          <a:xfrm xmlns:a="http://schemas.openxmlformats.org/drawingml/2006/main">
            <a:off x="695325" y="5410200"/>
            <a:ext cx="2601407" cy="652958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BDE523-D204-4440-8902-8EB1CFB85D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ba7a41b0aa440b"/>
          <a:stretch xmlns:a="http://schemas.openxmlformats.org/drawingml/2006/main"/>
        </p:blipFill>
        <p:spPr>
          <a:xfrm xmlns:a="http://schemas.openxmlformats.org/drawingml/2006/main">
            <a:off x="6486525" y="5410200"/>
            <a:ext cx="2752702" cy="6529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7111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117E03-0304-4F11-BAE3-BE7C1D7F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逆运动学：解出左右轮应有的转速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52666-6136-421E-A661-6CB8F90D8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D7C7A-FB0B-4766-9B1D-F4C52DA71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CD111F-DBF7-4587-B2F0-D8587FD5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D42883-D599-41CF-AAB9-76E9B74C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90675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已知 v 与 Ω，联立速度的和与差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036B-FF06-4532-9F9F-7DEBA188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24200"/>
            <a:ext cx="7620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分别做“相减”和“相加”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E163BC-666B-4203-AD17-25A25B65E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24550"/>
            <a:ext cx="10477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B36E15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B36E15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B36E15"/>
                </a:solidFill>
                <a:latin typeface="DengXian"/>
                <a:ea typeface="DengXian"/>
                <a:cs typeface="DengXian"/>
              </a:rPr>
              <a:t>方向检查：Ω &gt; 0 时，右轮角速度大于左轮。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0A340-575C-4289-97ED-04CD6A03582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0948092be24d73"/>
          <a:stretch xmlns:a="http://schemas.openxmlformats.org/drawingml/2006/main"/>
        </p:blipFill>
        <p:spPr>
          <a:xfrm xmlns:a="http://schemas.openxmlformats.org/drawingml/2006/main">
            <a:off x="695325" y="2219325"/>
            <a:ext cx="5430431" cy="342138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489059-F549-43EF-8EB8-5B6674F46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10e81edb4e6e"/>
          <a:stretch xmlns:a="http://schemas.openxmlformats.org/drawingml/2006/main"/>
        </p:blipFill>
        <p:spPr>
          <a:xfrm xmlns:a="http://schemas.openxmlformats.org/drawingml/2006/main">
            <a:off x="695325" y="3695700"/>
            <a:ext cx="5900509" cy="342138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3D8C8E-D03C-4077-871A-F972FAE84E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ea88d45fc24e87"/>
          <a:stretch xmlns:a="http://schemas.openxmlformats.org/drawingml/2006/main"/>
        </p:blipFill>
        <p:spPr>
          <a:xfrm xmlns:a="http://schemas.openxmlformats.org/drawingml/2006/main">
            <a:off x="695325" y="4667250"/>
            <a:ext cx="2584869" cy="974379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D32B4-6CB7-49EC-A4A2-0B4C662BBF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36c27a1264297"/>
          <a:stretch xmlns:a="http://schemas.openxmlformats.org/drawingml/2006/main"/>
        </p:blipFill>
        <p:spPr>
          <a:xfrm xmlns:a="http://schemas.openxmlformats.org/drawingml/2006/main">
            <a:off x="6496050" y="4667250"/>
            <a:ext cx="2607436" cy="9743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15227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B2C1A-1819-4BC5-8C07-EC208D066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位姿更新：把车体速度投影到世界坐标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8A76A9-4FB2-4DB2-AC7A-A7DF9730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AAE60B-1B0D-42FA-ACB5-F4CB216F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69027-B44C-495F-8921-2089D262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B1E99F-CF6A-4764-94B0-1991639A3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57350"/>
            <a:ext cx="4667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连续模型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7AC68-E4AE-46FE-8D56-10431E457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1657350"/>
            <a:ext cx="5334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显式欧拉法：每隔 Δt 更新一次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ED7E0E-8B64-4D50-AC3A-0F225A3E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91150"/>
            <a:ext cx="1038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θ 从世界 x 轴逆时针量到车头。</a:t>
            </a:r>
          </a:p>
          <a:p xmlns:a="http://schemas.openxmlformats.org/drawingml/2006/main">
            <a:pPr>
              <a:defRPr sz="195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95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Δt 越小，通常积分误差越小，但计算次数更多。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1452A-3ACB-4B37-BCE0-C575E48401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ba20e2ae184464"/>
          <a:stretch xmlns:a="http://schemas.openxmlformats.org/drawingml/2006/main"/>
        </p:blipFill>
        <p:spPr>
          <a:xfrm xmlns:a="http://schemas.openxmlformats.org/drawingml/2006/main">
            <a:off x="695325" y="2438400"/>
            <a:ext cx="1769430" cy="331556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33BAC5-F2DD-4ECB-AA55-38D828D4F9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40627af2b4496"/>
          <a:stretch xmlns:a="http://schemas.openxmlformats.org/drawingml/2006/main"/>
        </p:blipFill>
        <p:spPr>
          <a:xfrm xmlns:a="http://schemas.openxmlformats.org/drawingml/2006/main">
            <a:off x="695325" y="3419475"/>
            <a:ext cx="1694449" cy="37959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BCFBD-0BC5-4C9F-AB9C-B86D475DABD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3b94e92bca4501"/>
          <a:stretch xmlns:a="http://schemas.openxmlformats.org/drawingml/2006/main"/>
        </p:blipFill>
        <p:spPr>
          <a:xfrm xmlns:a="http://schemas.openxmlformats.org/drawingml/2006/main">
            <a:off x="695325" y="4400550"/>
            <a:ext cx="985919" cy="434264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FB6E07-6CD7-4A3B-A557-977B814214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2a6d055c2d48bd"/>
          <a:stretch xmlns:a="http://schemas.openxmlformats.org/drawingml/2006/main"/>
        </p:blipFill>
        <p:spPr>
          <a:xfrm xmlns:a="http://schemas.openxmlformats.org/drawingml/2006/main">
            <a:off x="6124575" y="2438400"/>
            <a:ext cx="3366615" cy="299237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B3955F-45D6-44C5-B78E-CA53A121475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c2b0918154cb8"/>
          <a:stretch xmlns:a="http://schemas.openxmlformats.org/drawingml/2006/main"/>
        </p:blipFill>
        <p:spPr>
          <a:xfrm xmlns:a="http://schemas.openxmlformats.org/drawingml/2006/main">
            <a:off x="6124575" y="3419475"/>
            <a:ext cx="3277880" cy="299237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304F56-0812-45CC-9DC4-D8F283A1788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b92f69839a4585"/>
          <a:stretch xmlns:a="http://schemas.openxmlformats.org/drawingml/2006/main"/>
        </p:blipFill>
        <p:spPr>
          <a:xfrm xmlns:a="http://schemas.openxmlformats.org/drawingml/2006/main">
            <a:off x="6124575" y="4400550"/>
            <a:ext cx="2537332" cy="2992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3044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027DF4-7EBE-40A7-BE45-0823DC88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例题：轮速为 5 和 7 rad/s 时，小车怎样走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50FA6A-7EA6-4AB0-B7E9-686D4C353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C5597-78AF-4F83-922F-35F781300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7B2BB-097C-42F6-8C7C-3582D88B2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F69421-DD5D-4298-A246-1C738347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383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已知参数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5B4E6-6687-45D3-95CE-519731F47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383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先算轮缘，再算底盘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BD47B-001E-4AA6-851F-5DDF07F57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143500"/>
            <a:ext cx="104775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从 (0, 0, 0) 出发，取 Δt = 0.1 s，一步欧拉更新：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D40A06-FEEC-4CF4-A8AE-0EB65D44D2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37f28bab448f6"/>
          <a:stretch xmlns:a="http://schemas.openxmlformats.org/drawingml/2006/main"/>
        </p:blipFill>
        <p:spPr>
          <a:xfrm xmlns:a="http://schemas.openxmlformats.org/drawingml/2006/main">
            <a:off x="695325" y="2200275"/>
            <a:ext cx="3600383" cy="29237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A09CCE-A3B4-4BCA-AA34-306D8C628F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9c9e1f53d34470"/>
          <a:stretch xmlns:a="http://schemas.openxmlformats.org/drawingml/2006/main"/>
        </p:blipFill>
        <p:spPr>
          <a:xfrm xmlns:a="http://schemas.openxmlformats.org/drawingml/2006/main">
            <a:off x="695325" y="3086100"/>
            <a:ext cx="2001258" cy="361950"/>
          </a:xfrm>
          <a:prstGeom xmlns:a="http://schemas.openxmlformats.org/drawingml/2006/main" prst="rect">
            <a:avLst/>
          </a:prstGeom>
        </p:spPr>
      </p:pic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9BA82A-DC29-427B-BA16-9E275CD529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08a64063d4b81"/>
          <a:stretch xmlns:a="http://schemas.openxmlformats.org/drawingml/2006/main"/>
        </p:blipFill>
        <p:spPr>
          <a:xfrm xmlns:a="http://schemas.openxmlformats.org/drawingml/2006/main">
            <a:off x="695325" y="3952875"/>
            <a:ext cx="2021201" cy="361950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D30366-B9BF-44F9-BDAF-7897860429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dd078f4784194"/>
          <a:stretch xmlns:a="http://schemas.openxmlformats.org/drawingml/2006/main"/>
        </p:blipFill>
        <p:spPr>
          <a:xfrm xmlns:a="http://schemas.openxmlformats.org/drawingml/2006/main">
            <a:off x="6496050" y="2257425"/>
            <a:ext cx="4119229" cy="314325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9741D7-2EB2-48AE-B77D-BFF852E0C26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ae13681ff4e14"/>
          <a:stretch xmlns:a="http://schemas.openxmlformats.org/drawingml/2006/main"/>
        </p:blipFill>
        <p:spPr>
          <a:xfrm xmlns:a="http://schemas.openxmlformats.org/drawingml/2006/main">
            <a:off x="6496050" y="3133725"/>
            <a:ext cx="4330707" cy="314325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720CF3-4499-47E6-942B-5D156C5C1E1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adb4e30687456b"/>
          <a:stretch xmlns:a="http://schemas.openxmlformats.org/drawingml/2006/main"/>
        </p:blipFill>
        <p:spPr>
          <a:xfrm xmlns:a="http://schemas.openxmlformats.org/drawingml/2006/main">
            <a:off x="6496050" y="4038600"/>
            <a:ext cx="2666160" cy="653320"/>
          </a:xfrm>
          <a:prstGeom xmlns:a="http://schemas.openxmlformats.org/drawingml/2006/main" prst="rect">
            <a:avLst/>
          </a:prstGeom>
        </p:spPr>
      </p:pic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A47E84-9A2E-4224-8D63-1FFB080FD63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1336e3c2ce45b7"/>
          <a:stretch xmlns:a="http://schemas.openxmlformats.org/drawingml/2006/main"/>
        </p:blipFill>
        <p:spPr>
          <a:xfrm xmlns:a="http://schemas.openxmlformats.org/drawingml/2006/main">
            <a:off x="695325" y="5676900"/>
            <a:ext cx="5400072" cy="314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46890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F9488-4E46-49B0-8DDD-98212EFC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Python 实现①：把正逆运动学写成函数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2BC3-4C1E-4ACA-B867-B022815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30D292-671F-421D-B9C2-FD850E0E9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1BA8D-C0C2-4F2B-8828-8DC932E2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764AE-B4D4-4A18-B29D-2772D5A4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正运动学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FCD941-0224-4359-A5EF-79008822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600200"/>
            <a:ext cx="4667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逆运动学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1659C0-2CA3-4D84-BE15-A5CE56A0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43125"/>
            <a:ext cx="498157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AC3B82-66E9-42EF-B822-045EFBCF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295525"/>
            <a:ext cx="4676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def forward(wl, wr, r, L):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v = r * (wr + wl) / 2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om = r * (wr - wl) / L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return v, om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3A99F6-A4AA-4AFD-89DB-ED8FBAC39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143125"/>
            <a:ext cx="4981575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FF9FEB-2B37-41DC-9E5E-A8F1D2EF3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95525"/>
            <a:ext cx="46767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def inverse(v, om, r, L):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wl = (v - L*om/2) / r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wr = (v + L*om/2) / r</a:t>
            </a:r>
          </a:p>
          <a:p xmlns:a="http://schemas.openxmlformats.org/drawingml/2006/main">
            <a:pPr>
              <a:defRPr sz="1800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return wl, wr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D81450-AD53-4E50-833C-F947D61E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562475"/>
            <a:ext cx="1038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1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输入和输出必须使用同一组单位：m、s、rad。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CDAA98-3A7F-41FA-9D4D-31AC9116ABA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e9cd010314496"/>
          <a:stretch xmlns:a="http://schemas.openxmlformats.org/drawingml/2006/main"/>
        </p:blipFill>
        <p:spPr>
          <a:xfrm xmlns:a="http://schemas.openxmlformats.org/drawingml/2006/main">
            <a:off x="695325" y="5324475"/>
            <a:ext cx="6083627" cy="52603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91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AE6052-B2A1-46FC-8717-D52CF5DA6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Python 实现②：循环更新位姿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FA2073-CC36-4372-B722-0D95B0EC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FA7D8C-0566-4AD4-B473-AC1A421B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E3FED9-A331-4AB1-970E-6386D3E8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A8B97E-A001-4AAA-874D-BA7338DD6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619250"/>
            <a:ext cx="6419850" cy="390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FF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E0B2E-74A0-4021-8F3D-E7ADB6B3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1771650"/>
            <a:ext cx="6115050" cy="3600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from math import sin, 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def step(x, y, th, v, om, dt):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xn = x + v*cos(th)*dt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yn = y + v*sin(th)*dt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tn = th + om*dt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return xn, yn, tn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x = y = th = 0.0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for _ in range(200):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x, y, th = step(</a:t>
            </a:r>
          </a:p>
          <a:p xmlns:a="http://schemas.openxmlformats.org/drawingml/2006/main">
            <a:pPr>
              <a:defRPr sz="1725" b="0">
                <a:solidFill>
                  <a:srgbClr val="152B43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2B43"/>
                </a:solidFill>
                <a:latin typeface="Consolas"/>
                <a:ea typeface="Consolas"/>
                <a:cs typeface="Consolas"/>
              </a:rPr>
              <a:t>        x, y, th, 0.18, 0.375, 0.01)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9B87A0-9652-4050-B341-191CF134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1676400"/>
            <a:ext cx="37147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运行 2 秒后的结果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A0B18-5525-4FB8-A540-8277A8A8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4695825"/>
            <a:ext cx="37147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圆弧解析解作为对照：</a:t>
            </a:r>
          </a:p>
          <a:p xmlns:a="http://schemas.openxmlformats.org/drawingml/2006/main">
            <a: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x ≈ 0.327187 m</a:t>
            </a:r>
          </a:p>
          <a:p xmlns:a="http://schemas.openxmlformats.org/drawingml/2006/main">
            <a:pPr>
              <a:defRPr sz="1800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800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y ≈ 0.128789 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C33E0-4227-4A09-A559-E65B43FD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753100"/>
            <a:ext cx="6858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pPr>
            <a:r>
              <a:rPr sz="1875" b="1">
                <a:solidFill>
                  <a:srgbClr val="008F95"/>
                </a:solidFill>
                <a:latin typeface="DengXian"/>
                <a:ea typeface="DengXian"/>
                <a:cs typeface="DengXian"/>
              </a:rPr>
              <a:t>同样的总时长，把 Δt 减半，再比较结果。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2AAB-C262-4112-A88A-04ECA558DB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a6afc998b14b54"/>
          <a:stretch xmlns:a="http://schemas.openxmlformats.org/drawingml/2006/main"/>
        </p:blipFill>
        <p:spPr>
          <a:xfrm xmlns:a="http://schemas.openxmlformats.org/drawingml/2006/main">
            <a:off x="7839075" y="2371725"/>
            <a:ext cx="2100823" cy="219713"/>
          </a:xfrm>
          <a:prstGeom xmlns:a="http://schemas.openxmlformats.org/drawingml/2006/main" prst="rect">
            <a:avLst/>
          </a:prstGeom>
        </p:spPr>
      </p:pic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45559A-AE0C-48EB-9E55-853933FF2E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8b0cfcc19d482c"/>
          <a:stretch xmlns:a="http://schemas.openxmlformats.org/drawingml/2006/main"/>
        </p:blipFill>
        <p:spPr>
          <a:xfrm xmlns:a="http://schemas.openxmlformats.org/drawingml/2006/main">
            <a:off x="7839075" y="3105150"/>
            <a:ext cx="2075048" cy="27692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457C1-FE03-40B6-9EB3-FAD77A9F8A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299db16734d88"/>
          <a:stretch xmlns:a="http://schemas.openxmlformats.org/drawingml/2006/main"/>
        </p:blipFill>
        <p:spPr>
          <a:xfrm xmlns:a="http://schemas.openxmlformats.org/drawingml/2006/main">
            <a:off x="7839075" y="3838575"/>
            <a:ext cx="2261757" cy="2473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4985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E270C-3944-4290-A87F-86460C800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课堂练习：先计算，再用函数核对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489779-0827-4C96-BFB8-AC8A52F6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40D7C3-8089-4204-8ACE-D9313FB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852AE-8C40-4791-9717-ADB9AC669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15E49-9204-42BA-9060-D29BD371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895725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1. 左右轮角速度各是多少？哪一轮更快？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953C09-0424-492D-B247-BD377927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629150"/>
            <a:ext cx="1057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2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2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2. 保持 v 不变，将 Ω 取相反数，左右轮速如何变化？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034C5E-B3D5-4FDA-852F-487F39613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362575"/>
            <a:ext cx="1057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00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008F95"/>
                </a:solidFill>
                <a:latin typeface="DengXian"/>
                <a:ea typeface="DengXian"/>
                <a:cs typeface="DengXian"/>
              </a:defRPr>
            </a:pPr>
            <a:r>
              <a:rPr sz="2100" b="1">
                <a:solidFill>
                  <a:srgbClr val="008F95"/>
                </a:solidFill>
                <a:latin typeface="DengXian"/>
                <a:ea typeface="DengXian"/>
                <a:cs typeface="DengXian"/>
              </a:rPr>
              <a:t>3. 调用 inverse，再用 forward 检查能否恢复目标速度。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7FF9F4-05CD-41E9-AC42-2929AFCB4DC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f0935095a4f74"/>
          <a:stretch xmlns:a="http://schemas.openxmlformats.org/drawingml/2006/main"/>
        </p:blipFill>
        <p:spPr>
          <a:xfrm xmlns:a="http://schemas.openxmlformats.org/drawingml/2006/main">
            <a:off x="695325" y="1847850"/>
            <a:ext cx="4868342" cy="38100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B21DC2-24C4-4BC5-969C-16267B83C81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66e0fd8210411f"/>
          <a:stretch xmlns:a="http://schemas.openxmlformats.org/drawingml/2006/main"/>
        </p:blipFill>
        <p:spPr>
          <a:xfrm xmlns:a="http://schemas.openxmlformats.org/drawingml/2006/main">
            <a:off x="695325" y="2781300"/>
            <a:ext cx="4114724" cy="3341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21869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0B058-1EF0-4275-A9AC-3233A1AA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9575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3150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补充：模型边界与参考资料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4DB7BF-1008-4656-A608-5FD35A517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23950"/>
            <a:ext cx="533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8F9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2F4203-91BC-4286-9DA4-ECE6CEAC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429375"/>
            <a:ext cx="523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差速移动机器人运动学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2F54B2-83DE-4030-A4F4-92BD9057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29375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2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FAE2E-57DB-4EBD-AB8C-6420B901A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5811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52B43"/>
                </a:solidFill>
                <a:latin typeface="DengXian"/>
                <a:ea typeface="DengXian"/>
                <a:cs typeface="DengXian"/>
              </a:defRPr>
            </a:pPr>
            <a:r>
              <a:rPr sz="2175" b="1">
                <a:solidFill>
                  <a:srgbClr val="152B43"/>
                </a:solidFill>
                <a:latin typeface="DengXian"/>
                <a:ea typeface="DengXian"/>
                <a:cs typeface="DengXian"/>
              </a:rPr>
              <a:t>本模型尚未包含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DA26E-3293-4455-BA27-FC554D92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171700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轮胎打滑、左右轮径误差、电机速度跟踪误差。</a:t>
            </a:r>
          </a:p>
          <a:p xmlns:a="http://schemas.openxmlformats.org/drawingml/2006/main">
            <a:pPr>
              <a:defRPr sz="20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代码中的角速度是车轮转速，接入实车前需处理传动比与反馈控制。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5654AE-C0A0-4D42-AD56-9F699D30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267075"/>
            <a:ext cx="104775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202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23364A"/>
                </a:solidFill>
                <a:latin typeface="DengXian"/>
                <a:ea typeface="DengXian"/>
                <a:cs typeface="DengXian"/>
              </a:defRPr>
            </a:pPr>
            <a:r>
              <a:rPr sz="2025" b="0">
                <a:solidFill>
                  <a:srgbClr val="23364A"/>
                </a:solidFill>
                <a:latin typeface="DengXian"/>
                <a:ea typeface="DengXian"/>
                <a:cs typeface="DengXian"/>
              </a:rPr>
              <a:t>恒定 v、Ω，初始位姿为 (0, 0, 0)，且 Ω ≠ 0：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C97262-25FC-4D1C-ABCF-9B7A006B1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67275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8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87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Ω = 0 时取直行极限：x(t) = vt，y(t) = 0。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BA5B3C-90CE-4D2B-9482-B0C1A1EB0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457825"/>
            <a:ext cx="1057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>
            <a:defPPr>
              <a:defRPr sz="17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参考：Lynch &amp; Park, Modern Robotics，第 13.1、13.3.1 节。</a:t>
            </a:r>
          </a:p>
          <a:p xmlns:a="http://schemas.openxmlformats.org/drawingml/2006/main">
            <a:pPr>
              <a:defRPr sz="1725" b="0">
                <a:solidFill>
                  <a:srgbClr val="5E7184"/>
                </a:solidFill>
                <a:latin typeface="DengXian"/>
                <a:ea typeface="DengXian"/>
                <a:cs typeface="DengXian"/>
              </a:defRPr>
            </a:pPr>
            <a:r>
              <a:rPr sz="1725" b="0">
                <a:solidFill>
                  <a:srgbClr val="5E7184"/>
                </a:solidFill>
                <a:latin typeface="DengXian"/>
                <a:ea typeface="DengXian"/>
                <a:cs typeface="DengXian"/>
              </a:rPr>
              <a:t>课程链接、公式源代码和授课提示见配套说明文件。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EF03B-117E-4FD8-B9D4-CF49285E92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48efb42d64583"/>
          <a:stretch xmlns:a="http://schemas.openxmlformats.org/drawingml/2006/main"/>
        </p:blipFill>
        <p:spPr>
          <a:xfrm xmlns:a="http://schemas.openxmlformats.org/drawingml/2006/main">
            <a:off x="695325" y="3876675"/>
            <a:ext cx="6207509" cy="60174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193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2026-10-08T08:48:44.5700000Z</dcterms:created>
  <dcterms:modified xsi:type="dcterms:W3CDTF">2026-10-08T08:48:44.5700000Z</dcterms:modified>
</coreProperties>
</file>